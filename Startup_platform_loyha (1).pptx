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2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954" y="1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915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Salomlashish. Platformaning bir jumlalik mohiyati: fuqaro muammolari va startaplarni AI orqali bog'laymiz.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Yangi startaperlar bozorni yuzaki biladi — research kuchsiz. Muammo egasi va yechuvchi hech qachon uchrashmaydi.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Platforma qanday bog'laydi: e'lon → AI tahlil → startap taklifi → loyiha. Soha vakillari, aholi va startaperlar bir joyda.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 qadam: fuqaro yuboradi (matn, ovoz, foto), AI tasniflaydi va e'lon qiladi, startapchi loyiha ochadi — jamoat kuzatadi.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 800M — O'zbekiston GovTech bozori. SAM 80M — fuqarolik muammo segmenti. SOM 5M — 3 yillik realistik maqsad.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Bosqichma-bosqich monetizatsiya: hozir bepul, keyin 5% komissiya, kelajakda tashkilotlar uchun SaaS obuna.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Traction: 68 real muammo bazada, 5 faol loyiha, Telegram bot va AI moderatsiya allaqachon ishlayapti.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60" y="-38993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1428">
                  <a:alpha val="100000"/>
                </a:srgbClr>
              </a:gs>
              <a:gs pos="100000">
                <a:srgbClr val="0C2145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1620500" y="-285750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5B9BFF">
                  <a:alpha val="22000"/>
                </a:srgbClr>
              </a:gs>
              <a:gs pos="65000">
                <a:srgbClr val="5B9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-2381250" y="600075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5B9BFF">
                  <a:alpha val="12000"/>
                </a:srgbClr>
              </a:gs>
              <a:gs pos="65000">
                <a:srgbClr val="5B9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" name="Text 4"/>
          <p:cNvSpPr/>
          <p:nvPr/>
        </p:nvSpPr>
        <p:spPr>
          <a:xfrm>
            <a:off x="16607954" y="857250"/>
            <a:ext cx="70849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7750" y="3428107"/>
            <a:ext cx="15192375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89"/>
              </a:lnSpc>
              <a:buNone/>
            </a:pPr>
            <a:r>
              <a:rPr lang="en-US" sz="12900" b="1" kern="0" spc="-225" dirty="0" err="1">
                <a:gradFill rotWithShape="1">
                  <a:gsLst>
                    <a:gs pos="30000">
                      <a:srgbClr val="FFFFFF">
                        <a:alpha val="100000"/>
                      </a:srgbClr>
                    </a:gs>
                    <a:gs pos="100000">
                      <a:srgbClr val="7FAEFF">
                        <a:alpha val="100000"/>
                      </a:srgbClr>
                    </a:gs>
                  </a:gsLst>
                  <a:lin ang="600000" scaled="0"/>
                </a:gradFill>
                <a:latin typeface="Arial" pitchFamily="34" charset="0"/>
                <a:cs typeface="Arial" pitchFamily="34" charset="-120"/>
              </a:rPr>
              <a:t>SolutionLab</a:t>
            </a:r>
            <a:endParaRPr lang="en-US" sz="12900" b="1" kern="0" spc="-225" dirty="0">
              <a:gradFill rotWithShape="1">
                <a:gsLst>
                  <a:gs pos="30000">
                    <a:srgbClr val="FFFFFF">
                      <a:alpha val="100000"/>
                    </a:srgbClr>
                  </a:gs>
                  <a:gs pos="100000">
                    <a:srgbClr val="7FAEFF">
                      <a:alpha val="100000"/>
                    </a:srgbClr>
                  </a:gs>
                </a:gsLst>
                <a:lin ang="600000" scaled="0"/>
              </a:gradFill>
              <a:latin typeface="Arial" pitchFamily="34" charset="0"/>
              <a:cs typeface="Arial" pitchFamily="34" charset="-120"/>
            </a:endParaRPr>
          </a:p>
          <a:p>
            <a:pPr marL="0" indent="0" algn="l">
              <a:lnSpc>
                <a:spcPct val="87089"/>
              </a:lnSpc>
              <a:buNone/>
            </a:pPr>
            <a:endParaRPr lang="en-US" sz="12900" dirty="0"/>
          </a:p>
        </p:txBody>
      </p:sp>
      <p:sp>
        <p:nvSpPr>
          <p:cNvPr id="8" name="Text 6"/>
          <p:cNvSpPr/>
          <p:nvPr/>
        </p:nvSpPr>
        <p:spPr>
          <a:xfrm>
            <a:off x="1047750" y="5485506"/>
            <a:ext cx="12263438" cy="1676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8286"/>
              </a:lnSpc>
              <a:buNone/>
            </a:pP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Fuqarolar murojaatlarining tegishli davlat idoralariga aniq yo'naltirilishi va ijrosi ochiq kuzatilishini ta'minlovchi AI platforma</a:t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450" dirty="0" err="1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1051560" y="9006840"/>
            <a:ext cx="3977639" cy="868680"/>
          </a:xfrm>
          <a:prstGeom prst="roundRect">
            <a:avLst>
              <a:gd name="adj" fmla="val 50000"/>
            </a:avLst>
          </a:prstGeom>
          <a:solidFill>
            <a:srgbClr val="5B9BFF">
              <a:alpha val="10000"/>
            </a:srgbClr>
          </a:solidFill>
          <a:ln w="9525">
            <a:solidFill>
              <a:srgbClr val="7FAE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9116567"/>
            <a:ext cx="3246120" cy="649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Fuqaro murojaati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212080" y="9171432"/>
            <a:ext cx="457200" cy="594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852160" y="9006840"/>
            <a:ext cx="2606040" cy="868680"/>
          </a:xfrm>
          <a:prstGeom prst="roundRect">
            <a:avLst>
              <a:gd name="adj" fmla="val 50000"/>
            </a:avLst>
          </a:prstGeom>
          <a:solidFill>
            <a:srgbClr val="5B9BFF">
              <a:alpha val="10000"/>
            </a:srgbClr>
          </a:solidFill>
          <a:ln w="9525">
            <a:solidFill>
              <a:srgbClr val="7FAE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9116567"/>
            <a:ext cx="1874519" cy="649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tahlil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641080" y="9171432"/>
            <a:ext cx="457200" cy="594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281160" y="9006840"/>
            <a:ext cx="5577840" cy="868680"/>
          </a:xfrm>
          <a:prstGeom prst="roundRect">
            <a:avLst>
              <a:gd name="adj" fmla="val 50000"/>
            </a:avLst>
          </a:prstGeom>
          <a:solidFill>
            <a:srgbClr val="5B9BFF">
              <a:alpha val="10000"/>
            </a:srgbClr>
          </a:solidFill>
          <a:ln w="9525">
            <a:solidFill>
              <a:srgbClr val="7FAE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16" name="Text 14"/>
          <p:cNvSpPr/>
          <p:nvPr/>
        </p:nvSpPr>
        <p:spPr>
          <a:xfrm>
            <a:off x="9646920" y="9116567"/>
            <a:ext cx="4846320" cy="649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3000" b="1" dirty="0" err="1">
                <a:solidFill>
                  <a:srgbClr val="C9DCFF"/>
                </a:solidFill>
                <a:latin typeface="Arial" pitchFamily="34" charset="0"/>
                <a:cs typeface="Arial" pitchFamily="34" charset="-120"/>
              </a:rPr>
              <a:t>Ijro kuzatuvi va natija</a:t>
            </a:r>
            <a:r>
              <a:rPr lang="en-US" sz="3000" b="1" dirty="0">
                <a:solidFill>
                  <a:srgbClr val="C9DCFF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en-US" sz="3000" b="1" dirty="0" err="1">
                <a:solidFill>
                  <a:srgbClr val="C9DCFF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en-US" sz="3000" b="1" dirty="0">
                <a:solidFill>
                  <a:srgbClr val="C9DCFF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en-US" sz="3000" b="1" dirty="0" err="1">
                <a:solidFill>
                  <a:srgbClr val="C9DCFF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en-US" sz="3000" b="1" dirty="0">
                <a:solidFill>
                  <a:srgbClr val="C9DCFF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en-US" sz="3000" b="1" dirty="0" err="1">
                <a:solidFill>
                  <a:srgbClr val="C9DCFF"/>
                </a:solidFill>
                <a:latin typeface="Arial" pitchFamily="34" charset="0"/>
                <a:cs typeface="Arial" pitchFamily="34" charset="-120"/>
              </a:rPr>
              <a:t/>
            </a:r>
            <a:endParaRPr lang="en-US" sz="1900" dirty="0"/>
          </a:p>
        </p:txBody>
      </p:sp>
      <p:sp>
        <p:nvSpPr>
          <p:cNvPr id="17" name="TextBox 16"/>
          <p:cNvSpPr txBox="1"/>
          <p:nvPr/>
        </p:nvSpPr>
        <p:spPr>
          <a:xfrm>
            <a:off x="1051560" y="777240"/>
            <a:ext cx="64008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C9DCFF"/>
                </a:solidFill>
                <a:latin typeface="Arial"/>
              </a:rPr>
              <a:t>solutionlab.boos.uz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1428">
                  <a:alpha val="100000"/>
                </a:srgbClr>
              </a:gs>
              <a:gs pos="100000">
                <a:srgbClr val="0C2145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266688" y="190500"/>
            <a:ext cx="4894793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47"/>
              </a:lnSpc>
              <a:buNone/>
            </a:pPr>
            <a:r>
              <a:rPr lang="en-US" sz="31500" b="1" dirty="0">
                <a:solidFill>
                  <a:srgbClr val="7FAEFF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1047750" y="857250"/>
            <a:ext cx="1781175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3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MUAMMO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433513"/>
            <a:ext cx="1471612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43"/>
              </a:lnSpc>
              <a:buNone/>
            </a:pPr>
            <a:r>
              <a:rPr lang="en-US" sz="5700" b="1" kern="0" spc="-75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Murojaat idoralar orasida yo'qoladi, ijrosini hech kim kuzatmaydi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47750" y="3787973"/>
            <a:ext cx="5168875" cy="5737027"/>
          </a:xfrm>
          <a:prstGeom prst="roundRect">
            <a:avLst>
              <a:gd name="adj" fmla="val 368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AE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76375" y="4254698"/>
            <a:ext cx="4742788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476375" y="4846320"/>
            <a:ext cx="444097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Tarqoq yo'naltirish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476375" y="5943599"/>
            <a:ext cx="4440974" cy="3108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Fuqaro qaysi idoraga tushganini bilmaydi — hech kim mas'uliyat olmaydi.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559525" y="3787973"/>
            <a:ext cx="5168875" cy="5737027"/>
          </a:xfrm>
          <a:prstGeom prst="roundRect">
            <a:avLst>
              <a:gd name="adj" fmla="val 368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AE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88150" y="4254698"/>
            <a:ext cx="4742788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114200" y="4846320"/>
            <a:ext cx="47427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3000" dirty="0" err="1">
                <a:solidFill>
                  <a:schemeClr val="bg1"/>
                </a:solidFill>
              </a:rPr>
              <a:t>Ijro jarayoni ko'rinmaydi</a:t>
            </a:r>
            <a:r>
              <a:rPr lang="en-US" sz="3000" dirty="0">
                <a:solidFill>
                  <a:schemeClr val="bg1"/>
                </a:solidFill>
              </a:rPr>
              <a:t/>
            </a:r>
            <a:r>
              <a:rPr lang="en-US" sz="3000" dirty="0" err="1">
                <a:solidFill>
                  <a:schemeClr val="bg1"/>
                </a:solidFill>
              </a:rPr>
              <a:t/>
            </a:r>
            <a:r>
              <a:rPr lang="en-US" sz="3000" dirty="0">
                <a:solidFill>
                  <a:schemeClr val="bg1"/>
                </a:solidFill>
              </a:rPr>
              <a:t/>
            </a:r>
            <a:r>
              <a:rPr lang="en-US" sz="3000" dirty="0" err="1">
                <a:solidFill>
                  <a:schemeClr val="bg1"/>
                </a:solidFill>
              </a:rPr>
              <a:t/>
            </a:r>
            <a:r>
              <a:rPr lang="en-US" sz="3000" dirty="0">
                <a:solidFill>
                  <a:schemeClr val="bg1"/>
                </a:solidFill>
              </a:rPr>
              <a:t/>
            </a:r>
            <a:r>
              <a:rPr lang="en-US" sz="3000" dirty="0" err="1">
                <a:solidFill>
                  <a:schemeClr val="bg1"/>
                </a:solidFill>
              </a:rPr>
              <a:t/>
            </a:r>
            <a:r>
              <a:rPr lang="en-US" sz="3000" dirty="0">
                <a:solidFill>
                  <a:schemeClr val="bg1"/>
                </a:solidFill>
              </a:rPr>
              <a:t/>
            </a:r>
            <a:r>
              <a:rPr lang="en-US" sz="3000" dirty="0" err="1">
                <a:solidFill>
                  <a:schemeClr val="bg1"/>
                </a:solidFill>
              </a:rPr>
              <a:t/>
            </a:r>
            <a:r>
              <a:rPr lang="en-US" sz="3000" dirty="0">
                <a:solidFill>
                  <a:schemeClr val="bg1"/>
                </a:solidFill>
              </a:rPr>
              <a:t/>
            </a:r>
            <a:r>
              <a:rPr lang="en-US" sz="3000" dirty="0" err="1">
                <a:solidFill>
                  <a:schemeClr val="bg1"/>
                </a:solidFill>
              </a:rPr>
              <a:t/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2071300" y="3787973"/>
            <a:ext cx="5168950" cy="5737027"/>
          </a:xfrm>
          <a:prstGeom prst="roundRect">
            <a:avLst>
              <a:gd name="adj" fmla="val 368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AE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499925" y="4254698"/>
            <a:ext cx="474287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2499925" y="4846320"/>
            <a:ext cx="474287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Kuzatuv tizimi yo'q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499925" y="5943599"/>
            <a:ext cx="4441051" cy="3108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Qabul qilingach iz yo'qoladi — hal bo'ldimi, yo'qmi, hech kim bilmaydi.</a:t>
            </a:r>
            <a:endParaRPr lang="en-US" sz="2250" dirty="0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E65F4F1-356A-4B23-8589-A0A39790E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176" y="5943599"/>
            <a:ext cx="4277572" cy="3108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25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Noto'g'ri yo'naltirish.</a:t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Qo'lda saralash — vaqt yo'qotish.</a:t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Xodimlar yuklamasi ortishi.</a:t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1428">
                  <a:alpha val="100000"/>
                </a:srgbClr>
              </a:gs>
              <a:gs pos="100000">
                <a:srgbClr val="0C2145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266688" y="190500"/>
            <a:ext cx="4894793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47"/>
              </a:lnSpc>
              <a:buNone/>
            </a:pPr>
            <a:r>
              <a:rPr lang="en-US" sz="31500" b="1" dirty="0">
                <a:solidFill>
                  <a:srgbClr val="7FAEFF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1047750" y="857250"/>
            <a:ext cx="1781175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3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FARQIMIZ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433513"/>
            <a:ext cx="1471612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43"/>
              </a:lnSpc>
              <a:buNone/>
            </a:pPr>
            <a:r>
              <a:rPr lang="en-US" sz="5700" b="1" kern="0" spc="-75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Bizning farqimiz</a:t>
            </a:r>
            <a:endParaRPr lang="en-US" sz="5700" dirty="0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15718536" cy="1417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0">
                <a:solidFill>
                  <a:srgbClr val="8FA9D6"/>
                </a:solidFill>
                <a:latin typeface="Arial"/>
              </a:rPr>
              <a:t>AI yo'naltirish va ovozli murojaat dunyoda sinovdan o'tgan — lekin O'zbekistonning 11,7 mln murojaatlik tizimida yo'q. Biz uni almashtirmoqchi emasmiz, yetishmayotgan AI qatlamini qo'shamiz.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51560" y="4572000"/>
          <a:ext cx="15718534" cy="4297680"/>
        </p:xfrm>
        <a:graphic>
          <a:graphicData uri="http://schemas.openxmlformats.org/drawingml/2006/table">
            <a:tbl>
              <a:tblPr firstRow="0" bandRow="0"/>
              <a:tblGrid>
                <a:gridCol w="4715560"/>
                <a:gridCol w="3772448"/>
                <a:gridCol w="4086819"/>
                <a:gridCol w="3143707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3000" b="1">
                          <a:solidFill>
                            <a:srgbClr val="5B9BFF"/>
                          </a:solidFill>
                          <a:latin typeface="Arial"/>
                        </a:rPr>
                        <a:t>Imkoniyat</a:t>
                      </a:r>
                    </a:p>
                  </a:txBody>
                  <a:tcPr anchor="ctr" marL="128016" marR="128016" marT="54864" marB="54864">
                    <a:solidFill>
                      <a:srgbClr val="1B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3000" b="1">
                          <a:solidFill>
                            <a:srgbClr val="5B9BFF"/>
                          </a:solidFill>
                          <a:latin typeface="Arial"/>
                        </a:rPr>
                        <a:t>murojaat.gov.uz</a:t>
                      </a:r>
                    </a:p>
                  </a:txBody>
                  <a:tcPr anchor="ctr" marL="128016" marR="128016" marT="54864" marB="54864">
                    <a:solidFill>
                      <a:srgbClr val="1B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3000" b="1">
                          <a:solidFill>
                            <a:srgbClr val="5B9BFF"/>
                          </a:solidFill>
                          <a:latin typeface="Arial"/>
                        </a:rPr>
                        <a:t>Dunyo namunalari</a:t>
                      </a:r>
                    </a:p>
                  </a:txBody>
                  <a:tcPr anchor="ctr" marL="128016" marR="128016" marT="54864" marB="54864">
                    <a:solidFill>
                      <a:srgbClr val="1B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3000" b="1">
                          <a:solidFill>
                            <a:srgbClr val="5B9BFF"/>
                          </a:solidFill>
                          <a:latin typeface="Arial"/>
                        </a:rPr>
                        <a:t>SolutionLab</a:t>
                      </a:r>
                    </a:p>
                  </a:txBody>
                  <a:tcPr anchor="ctr" marL="128016" marR="128016" marT="54864" marB="54864">
                    <a:solidFill>
                      <a:srgbClr val="1B2A4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3000" b="1">
                          <a:solidFill>
                            <a:srgbClr val="F2F6FF"/>
                          </a:solidFill>
                          <a:latin typeface="Arial"/>
                        </a:rPr>
                        <a:t>AI avtomatik yo'naltirish</a:t>
                      </a:r>
                    </a:p>
                  </a:txBody>
                  <a:tcPr anchor="ctr" marL="128016" marR="128016" marT="54864" marB="54864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E08A5C"/>
                          </a:solidFill>
                          <a:latin typeface="Arial"/>
                        </a:rPr>
                        <a:t>Yo'q</a:t>
                      </a:r>
                    </a:p>
                  </a:txBody>
                  <a:tcPr anchor="ctr" marL="128016" marR="128016" marT="54864" marB="54864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8FA9D6"/>
                          </a:solidFill>
                          <a:latin typeface="Arial"/>
                        </a:rPr>
                        <a:t>Bor (Hindiston)</a:t>
                      </a:r>
                    </a:p>
                  </a:txBody>
                  <a:tcPr anchor="ctr" marL="128016" marR="128016" marT="54864" marB="54864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1">
                          <a:solidFill>
                            <a:srgbClr val="6FDD8B"/>
                          </a:solidFill>
                          <a:latin typeface="Arial"/>
                        </a:rPr>
                        <a:t>Bor</a:t>
                      </a:r>
                    </a:p>
                  </a:txBody>
                  <a:tcPr anchor="ctr" marL="128016" marR="128016" marT="54864" marB="54864">
                    <a:solidFill>
                      <a:srgbClr val="1633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3000" b="1">
                          <a:solidFill>
                            <a:srgbClr val="F2F6FF"/>
                          </a:solidFill>
                          <a:latin typeface="Arial"/>
                        </a:rPr>
                        <a:t>Ovozli murojaat (AI bilan)</a:t>
                      </a:r>
                    </a:p>
                  </a:txBody>
                  <a:tcPr anchor="ctr" marL="128016" marR="128016" marT="54864" marB="54864">
                    <a:solidFill>
                      <a:srgbClr val="0E17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E08A5C"/>
                          </a:solidFill>
                          <a:latin typeface="Arial"/>
                        </a:rPr>
                        <a:t>Odam-operator</a:t>
                      </a:r>
                    </a:p>
                  </a:txBody>
                  <a:tcPr anchor="ctr" marL="128016" marR="128016" marT="54864" marB="54864">
                    <a:solidFill>
                      <a:srgbClr val="0E17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8FA9D6"/>
                          </a:solidFill>
                          <a:latin typeface="Arial"/>
                        </a:rPr>
                        <a:t>Reja (Estoniya)</a:t>
                      </a:r>
                    </a:p>
                  </a:txBody>
                  <a:tcPr anchor="ctr" marL="128016" marR="128016" marT="54864" marB="54864">
                    <a:solidFill>
                      <a:srgbClr val="0E17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1">
                          <a:solidFill>
                            <a:srgbClr val="6FDD8B"/>
                          </a:solidFill>
                          <a:latin typeface="Arial"/>
                        </a:rPr>
                        <a:t>Bor / demo</a:t>
                      </a:r>
                    </a:p>
                  </a:txBody>
                  <a:tcPr anchor="ctr" marL="128016" marR="128016" marT="54864" marB="54864">
                    <a:solidFill>
                      <a:srgbClr val="1633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3000" b="1">
                          <a:solidFill>
                            <a:srgbClr val="F2F6FF"/>
                          </a:solidFill>
                          <a:latin typeface="Arial"/>
                        </a:rPr>
                        <a:t>Bitta ID — istalgan kanal</a:t>
                      </a:r>
                    </a:p>
                  </a:txBody>
                  <a:tcPr anchor="ctr" marL="128016" marR="128016" marT="54864" marB="54864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E08A5C"/>
                          </a:solidFill>
                          <a:latin typeface="Arial"/>
                        </a:rPr>
                        <a:t>Yo'q</a:t>
                      </a:r>
                    </a:p>
                  </a:txBody>
                  <a:tcPr anchor="ctr" marL="128016" marR="128016" marT="54864" marB="54864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E08A5C"/>
                          </a:solidFill>
                          <a:latin typeface="Arial"/>
                        </a:rPr>
                        <a:t>Yo'q</a:t>
                      </a:r>
                    </a:p>
                  </a:txBody>
                  <a:tcPr anchor="ctr" marL="128016" marR="128016" marT="54864" marB="54864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1">
                          <a:solidFill>
                            <a:srgbClr val="6FDD8B"/>
                          </a:solidFill>
                          <a:latin typeface="Arial"/>
                        </a:rPr>
                        <a:t>Bor</a:t>
                      </a:r>
                    </a:p>
                  </a:txBody>
                  <a:tcPr anchor="ctr" marL="128016" marR="128016" marT="54864" marB="54864">
                    <a:solidFill>
                      <a:srgbClr val="1633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3000" b="1">
                          <a:solidFill>
                            <a:srgbClr val="F2F6FF"/>
                          </a:solidFill>
                          <a:latin typeface="Arial"/>
                        </a:rPr>
                        <a:t>Proaktiv bildirishnoma</a:t>
                      </a:r>
                    </a:p>
                  </a:txBody>
                  <a:tcPr anchor="ctr" marL="128016" marR="128016" marT="54864" marB="54864">
                    <a:solidFill>
                      <a:srgbClr val="0E17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E08A5C"/>
                          </a:solidFill>
                          <a:latin typeface="Arial"/>
                        </a:rPr>
                        <a:t>Yo'q</a:t>
                      </a:r>
                    </a:p>
                  </a:txBody>
                  <a:tcPr anchor="ctr" marL="128016" marR="128016" marT="54864" marB="54864">
                    <a:solidFill>
                      <a:srgbClr val="0E17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8FA9D6"/>
                          </a:solidFill>
                          <a:latin typeface="Arial"/>
                        </a:rPr>
                        <a:t>Qisman</a:t>
                      </a:r>
                    </a:p>
                  </a:txBody>
                  <a:tcPr anchor="ctr" marL="128016" marR="128016" marT="54864" marB="54864">
                    <a:solidFill>
                      <a:srgbClr val="0E17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1">
                          <a:solidFill>
                            <a:srgbClr val="6FDD8B"/>
                          </a:solidFill>
                          <a:latin typeface="Arial"/>
                        </a:rPr>
                        <a:t>Bor</a:t>
                      </a:r>
                    </a:p>
                  </a:txBody>
                  <a:tcPr anchor="ctr" marL="128016" marR="128016" marT="54864" marB="54864">
                    <a:solidFill>
                      <a:srgbClr val="16333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3000" b="1">
                          <a:solidFill>
                            <a:srgbClr val="F2F6FF"/>
                          </a:solidFill>
                          <a:latin typeface="Arial"/>
                        </a:rPr>
                        <a:t>Ochiq idoralar reytingi</a:t>
                      </a:r>
                    </a:p>
                  </a:txBody>
                  <a:tcPr anchor="ctr" marL="128016" marR="128016" marT="54864" marB="54864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E08A5C"/>
                          </a:solidFill>
                          <a:latin typeface="Arial"/>
                        </a:rPr>
                        <a:t>Yo'q</a:t>
                      </a:r>
                    </a:p>
                  </a:txBody>
                  <a:tcPr anchor="ctr" marL="128016" marR="128016" marT="54864" marB="54864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E08A5C"/>
                          </a:solidFill>
                          <a:latin typeface="Arial"/>
                        </a:rPr>
                        <a:t>Yo'q</a:t>
                      </a:r>
                    </a:p>
                  </a:txBody>
                  <a:tcPr anchor="ctr" marL="128016" marR="128016" marT="54864" marB="54864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1">
                          <a:solidFill>
                            <a:srgbClr val="8FA9D6"/>
                          </a:solidFill>
                          <a:latin typeface="Arial"/>
                        </a:rPr>
                        <a:t>Rejada</a:t>
                      </a:r>
                    </a:p>
                  </a:txBody>
                  <a:tcPr anchor="ctr" marL="128016" marR="128016" marT="54864" marB="54864">
                    <a:solidFill>
                      <a:srgbClr val="1633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1428">
                  <a:alpha val="100000"/>
                </a:srgbClr>
              </a:gs>
              <a:gs pos="100000">
                <a:srgbClr val="0C2145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266688" y="190500"/>
            <a:ext cx="4894793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47"/>
              </a:lnSpc>
              <a:buNone/>
            </a:pPr>
            <a:r>
              <a:rPr lang="en-US" sz="31500" b="1" dirty="0">
                <a:solidFill>
                  <a:srgbClr val="7FAEFF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500" dirty="0"/>
          </a:p>
        </p:txBody>
      </p:sp>
      <p:sp>
        <p:nvSpPr>
          <p:cNvPr id="4" name="Shape 2"/>
          <p:cNvSpPr/>
          <p:nvPr/>
        </p:nvSpPr>
        <p:spPr>
          <a:xfrm>
            <a:off x="7315200" y="-238125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5B9BFF">
                  <a:alpha val="14000"/>
                </a:srgbClr>
              </a:gs>
              <a:gs pos="65000">
                <a:srgbClr val="5B9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857250"/>
            <a:ext cx="1781175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3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YECHIM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1433513"/>
            <a:ext cx="1471612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43"/>
              </a:lnSpc>
              <a:buNone/>
            </a:pPr>
            <a:r>
              <a:rPr lang="en-US" sz="5700" b="1" kern="0" spc="-75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Bitta kirish nuqtasi — AI yo'naltiradi, holat ochiq kuzatiladi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4838700"/>
            <a:ext cx="3648075" cy="2651760"/>
          </a:xfrm>
          <a:prstGeom prst="roundRect">
            <a:avLst>
              <a:gd name="adj" fmla="val 89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AE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00175" y="5267325"/>
            <a:ext cx="32375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225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QADAM 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400175" y="5753100"/>
            <a:ext cx="3031522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Murojaat yuboriladi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57725" y="5644455"/>
            <a:ext cx="609600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229225" y="5036790"/>
            <a:ext cx="3648075" cy="2651760"/>
          </a:xfrm>
          <a:prstGeom prst="roundRect">
            <a:avLst>
              <a:gd name="adj" fmla="val 1098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AE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581650" y="5465415"/>
            <a:ext cx="32375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225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QADAM 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581650" y="5951190"/>
            <a:ext cx="3237548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tahlil qiladi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39200" y="5644455"/>
            <a:ext cx="609600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410700" y="4838700"/>
            <a:ext cx="3648075" cy="2651760"/>
          </a:xfrm>
          <a:prstGeom prst="roundRect">
            <a:avLst>
              <a:gd name="adj" fmla="val 89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AE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763125" y="5267325"/>
            <a:ext cx="32375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225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QADAM 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763125" y="5753100"/>
            <a:ext cx="3031522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Idoraga yo'naltiriladi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020675" y="5644455"/>
            <a:ext cx="609600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3592175" y="5036790"/>
            <a:ext cx="3648075" cy="2651760"/>
          </a:xfrm>
          <a:prstGeom prst="roundRect">
            <a:avLst>
              <a:gd name="adj" fmla="val 10983"/>
            </a:avLst>
          </a:prstGeom>
          <a:gradFill rotWithShape="1">
            <a:gsLst>
              <a:gs pos="0">
                <a:srgbClr val="4C8DFF">
                  <a:alpha val="100000"/>
                </a:srgbClr>
              </a:gs>
              <a:gs pos="100000">
                <a:srgbClr val="2D5AA8">
                  <a:alpha val="100000"/>
                </a:srgbClr>
              </a:gs>
            </a:gsLst>
            <a:lin ang="2700000" scaled="0"/>
          </a:gradFill>
          <a:ln w="9525">
            <a:solidFill>
              <a:srgbClr val="5B9BFF"/>
            </a:solidFill>
            <a:prstDash val="solid"/>
          </a:ln>
          <a:effectLst>
            <a:outerShdw blurRad="571500" dist="190500" dir="5400000" algn="bl" rotWithShape="0">
              <a:srgbClr val="4C8DFF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944600" y="5465415"/>
            <a:ext cx="32375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225" dirty="0">
                <a:solidFill>
                  <a:srgbClr val="D6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944600" y="5951190"/>
            <a:ext cx="3237548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Ijro kuzatiladi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47750" y="7955279"/>
            <a:ext cx="12753975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9730"/>
              </a:lnSpc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Fuqaro, davlat idorasi va AI bitta oqimda — murojaat hech qachon yo'qolib ketmaydi, statusi oxirigacha ochiq.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1428">
                  <a:alpha val="100000"/>
                </a:srgbClr>
              </a:gs>
              <a:gs pos="100000">
                <a:srgbClr val="0C2145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266688" y="190500"/>
            <a:ext cx="4894793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47"/>
              </a:lnSpc>
              <a:buNone/>
            </a:pPr>
            <a:r>
              <a:rPr lang="en-US" sz="31500" b="1" dirty="0">
                <a:solidFill>
                  <a:srgbClr val="7FAEFF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1047750" y="857250"/>
            <a:ext cx="1781175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3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QANDAY ISHLAYDI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433513"/>
            <a:ext cx="1781175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43"/>
              </a:lnSpc>
              <a:buNone/>
            </a:pPr>
            <a:r>
              <a:rPr lang="en-US" sz="5700" b="1" kern="0" spc="-75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 qadamda murojaatdan natijagacha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47750" y="3017520"/>
            <a:ext cx="15716250" cy="2148840"/>
          </a:xfrm>
          <a:prstGeom prst="roundRect">
            <a:avLst>
              <a:gd name="adj" fmla="val 964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AE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14475" y="3507507"/>
            <a:ext cx="146685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228975" y="3273552"/>
            <a:ext cx="4924425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Fuqaro murojaat yuboradi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8086725" y="3200400"/>
            <a:ext cx="8456867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Matn yoki ovozli xabar orqali — Telegram bot, veb-platforma va telefon qo'ng'irog'i (demo) orqali.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349240"/>
            <a:ext cx="15716250" cy="2148840"/>
          </a:xfrm>
          <a:prstGeom prst="roundRect">
            <a:avLst>
              <a:gd name="adj" fmla="val 964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AE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14475" y="5824910"/>
            <a:ext cx="146685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228975" y="5605272"/>
            <a:ext cx="4924425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tahlil qiladi va yo'naltiradi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086725" y="5532120"/>
            <a:ext cx="8456867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Soha, tegishli idora va shoshilinchlik darajasi avtomatik aniqlanadi, murojaat darhol yo'naltiriladi.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7680959"/>
            <a:ext cx="15716250" cy="2148840"/>
          </a:xfrm>
          <a:prstGeom prst="roundRect">
            <a:avLst>
              <a:gd name="adj" fmla="val 964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AE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514475" y="8142387"/>
            <a:ext cx="146685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2941892" y="7936990"/>
            <a:ext cx="4924425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Ijro holati ochiq kuzatiladi</a:t>
            </a: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 err="1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 err="1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 err="1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 err="1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 err="1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 err="1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dirty="0" err="1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086725" y="7863838"/>
            <a:ext cx="8456867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va muddat fuqaro va idoraga bir xil ko'rinadi — qabul qilingandan keyin yo'qolib ketmaydi.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1428">
                  <a:alpha val="100000"/>
                </a:srgbClr>
              </a:gs>
              <a:gs pos="100000">
                <a:srgbClr val="0C2145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266688" y="190500"/>
            <a:ext cx="4894793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47"/>
              </a:lnSpc>
              <a:buNone/>
            </a:pPr>
            <a:r>
              <a:rPr lang="en-US" sz="31500" b="1" dirty="0">
                <a:solidFill>
                  <a:srgbClr val="7FAEFF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1047750" y="857250"/>
            <a:ext cx="1781175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3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MIQYOS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433513"/>
            <a:ext cx="1781175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43"/>
              </a:lnSpc>
              <a:buNone/>
            </a:pPr>
            <a:r>
              <a:rPr lang="en-US" sz="5700" b="1" kern="0" spc="-75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Muammoning haqiqiy miqyosi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47750" y="3128963"/>
            <a:ext cx="5143500" cy="5334000"/>
          </a:xfrm>
          <a:prstGeom prst="roundRect">
            <a:avLst>
              <a:gd name="adj" fmla="val 370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7FAE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76375" y="7153275"/>
            <a:ext cx="4714875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00" b="1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11,7 mln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047750" y="8503920"/>
            <a:ext cx="5657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8979408"/>
            <a:ext cx="565785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Yillik murojaatlar — murojaat.gov.uz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572250" y="4652963"/>
            <a:ext cx="5143500" cy="3810000"/>
          </a:xfrm>
          <a:prstGeom prst="roundRect">
            <a:avLst>
              <a:gd name="adj" fmla="val 5000"/>
            </a:avLst>
          </a:prstGeom>
          <a:solidFill>
            <a:srgbClr val="5B9BFF">
              <a:alpha val="18000"/>
            </a:srgbClr>
          </a:solidFill>
          <a:ln w="9525">
            <a:solidFill>
              <a:srgbClr val="7FAE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00875" y="7153275"/>
            <a:ext cx="4714875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00" b="1" dirty="0">
                <a:solidFill>
                  <a:srgbClr val="DC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 mln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6572250" y="8503920"/>
            <a:ext cx="5657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572250" y="8979408"/>
            <a:ext cx="565785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Inson-operator orqali qabul qilinadi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096750" y="5986463"/>
            <a:ext cx="5143500" cy="247650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4C8DFF">
                  <a:alpha val="100000"/>
                </a:srgbClr>
              </a:gs>
              <a:gs pos="100000">
                <a:srgbClr val="2D5AA8">
                  <a:alpha val="100000"/>
                </a:srgbClr>
              </a:gs>
            </a:gsLst>
            <a:lin ang="2700000" scaled="0"/>
          </a:gradFill>
          <a:ln w="9525">
            <a:solidFill>
              <a:srgbClr val="5B9BFF"/>
            </a:solidFill>
            <a:prstDash val="solid"/>
          </a:ln>
          <a:effectLst>
            <a:outerShdw blurRad="571500" dist="190500" dir="5400000" algn="bl" rotWithShape="0">
              <a:srgbClr val="4C8DFF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525375" y="7153275"/>
            <a:ext cx="4714875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12096750" y="8503920"/>
            <a:ext cx="5657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096750" y="8979408"/>
            <a:ext cx="565785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orqali birinchi qabul va saralash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1428">
                  <a:alpha val="100000"/>
                </a:srgbClr>
              </a:gs>
              <a:gs pos="100000">
                <a:srgbClr val="0C2145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266688" y="190500"/>
            <a:ext cx="4894793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47"/>
              </a:lnSpc>
              <a:buNone/>
            </a:pPr>
            <a:r>
              <a:rPr lang="en-US" sz="31500" b="1" dirty="0">
                <a:solidFill>
                  <a:srgbClr val="7FAEFF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1047750" y="857250"/>
            <a:ext cx="1781175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3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REJA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433513"/>
            <a:ext cx="1781175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43"/>
              </a:lnSpc>
              <a:buNone/>
            </a:pPr>
            <a:r>
              <a:rPr lang="en-US" sz="5700" b="1" kern="0" spc="-75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Bosqichma-bosqich rivojlanish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47750" y="4929634"/>
            <a:ext cx="5143500" cy="47625"/>
          </a:xfrm>
          <a:prstGeom prst="rect">
            <a:avLst/>
          </a:prstGeom>
          <a:solidFill>
            <a:srgbClr val="8FA9D6">
              <a:alpha val="5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47750" y="5396359"/>
            <a:ext cx="565785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225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HOZIR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5915471"/>
            <a:ext cx="56578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9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Ishlayapti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047750" y="6903720"/>
            <a:ext cx="5297805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Veb va Telegram orqali murojaat, AI yo'naltirish, rasmiylar uchun kuzatuv paneli.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572250" y="4929634"/>
            <a:ext cx="5143500" cy="47625"/>
          </a:xfrm>
          <a:prstGeom prst="rect">
            <a:avLst/>
          </a:prstGeom>
          <a:solidFill>
            <a:srgbClr val="5B9BFF">
              <a:alpha val="7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2250" y="5396359"/>
            <a:ext cx="565785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225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YAQIN BOSQICH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72250" y="5915471"/>
            <a:ext cx="56578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DC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tayyor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572250" y="6903720"/>
            <a:ext cx="5297805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 qo'ng'irog'ida AI suhbat — Asterisk + Gemini Voice AI orqali.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096750" y="4929634"/>
            <a:ext cx="5143500" cy="47625"/>
          </a:xfrm>
          <a:prstGeom prst="rect">
            <a:avLst/>
          </a:prstGeom>
          <a:solidFill>
            <a:srgbClr val="5B9B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096750" y="5396359"/>
            <a:ext cx="565785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225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KELAJAK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096750" y="5915471"/>
            <a:ext cx="56578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Rejada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2096750" y="6903720"/>
            <a:ext cx="5297805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Qisqa raqamlarga integratsiya va parallel qo'ng'iroqlar — telekom hamkorligi orqali.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1428">
                  <a:alpha val="100000"/>
                </a:srgbClr>
              </a:gs>
              <a:gs pos="100000">
                <a:srgbClr val="0C2145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266688" y="190500"/>
            <a:ext cx="4894793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47"/>
              </a:lnSpc>
              <a:buNone/>
            </a:pPr>
            <a:r>
              <a:rPr lang="en-US" sz="31500" b="1" dirty="0">
                <a:solidFill>
                  <a:srgbClr val="7FAEFF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1500" dirty="0"/>
          </a:p>
        </p:txBody>
      </p:sp>
      <p:sp>
        <p:nvSpPr>
          <p:cNvPr id="4" name="Shape 2"/>
          <p:cNvSpPr/>
          <p:nvPr/>
        </p:nvSpPr>
        <p:spPr>
          <a:xfrm>
            <a:off x="-1905000" y="-238125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5B9BFF">
                  <a:alpha val="14000"/>
                </a:srgbClr>
              </a:gs>
              <a:gs pos="65000">
                <a:srgbClr val="5B9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857250"/>
            <a:ext cx="1781175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300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HOZIRGI HOLAT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1433513"/>
            <a:ext cx="1781175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43"/>
              </a:lnSpc>
              <a:buNone/>
            </a:pPr>
            <a:r>
              <a:rPr lang="en-US" sz="5700" b="1" kern="0" spc="-75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ishga tayyor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047750" y="5291584"/>
            <a:ext cx="411765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05"/>
              </a:lnSpc>
              <a:buNone/>
            </a:pPr>
            <a:r>
              <a:rPr lang="en-US" sz="11250" b="1" dirty="0">
                <a:gradFill rotWithShape="1"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5B9BFF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250" dirty="0"/>
          </a:p>
        </p:txBody>
      </p:sp>
      <p:sp>
        <p:nvSpPr>
          <p:cNvPr id="8" name="Text 6"/>
          <p:cNvSpPr/>
          <p:nvPr/>
        </p:nvSpPr>
        <p:spPr>
          <a:xfrm>
            <a:off x="1047750" y="6834634"/>
            <a:ext cx="411765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yo'nalish (sektor) qamrovi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172075" y="5291584"/>
            <a:ext cx="411765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05"/>
              </a:lnSpc>
              <a:buNone/>
            </a:pPr>
            <a:r>
              <a:rPr lang="en-US" sz="11250" b="1" dirty="0">
                <a:gradFill rotWithShape="1"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5B9BFF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250" dirty="0"/>
          </a:p>
        </p:txBody>
      </p:sp>
      <p:sp>
        <p:nvSpPr>
          <p:cNvPr id="10" name="Text 8"/>
          <p:cNvSpPr/>
          <p:nvPr/>
        </p:nvSpPr>
        <p:spPr>
          <a:xfrm>
            <a:off x="5172075" y="6834634"/>
            <a:ext cx="411765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kirish kanali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72600" y="5153471"/>
            <a:ext cx="9525" cy="2209800"/>
          </a:xfrm>
          <a:prstGeom prst="rect">
            <a:avLst/>
          </a:prstGeom>
          <a:solidFill>
            <a:srgbClr val="7FAEFF">
              <a:alpha val="25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15525" y="4846320"/>
            <a:ext cx="457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972800" y="4800600"/>
            <a:ext cx="66751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 orqali matn va ovozli murojaat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915525" y="6080760"/>
            <a:ext cx="457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972800" y="6035040"/>
            <a:ext cx="66751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avtomatik moderatsiya va tasniflash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915525" y="7315200"/>
            <a:ext cx="457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972800" y="7269480"/>
            <a:ext cx="66751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Yo'naltirish va ijro kuzatuvi paneli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915525" y="8549640"/>
            <a:ext cx="457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972800" y="8503920"/>
            <a:ext cx="66751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 orqali AI suhbat (mahalliy demo)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464</Words>
  <Application>Microsoft Office PowerPoint</Application>
  <PresentationFormat>Произвольный</PresentationFormat>
  <Paragraphs>103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Guli Salayeva</cp:lastModifiedBy>
  <cp:revision>4</cp:revision>
  <dcterms:created xsi:type="dcterms:W3CDTF">2026-07-19T08:17:00Z</dcterms:created>
  <dcterms:modified xsi:type="dcterms:W3CDTF">2026-07-28T20:04:03Z</dcterms:modified>
</cp:coreProperties>
</file>